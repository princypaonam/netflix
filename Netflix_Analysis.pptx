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3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Movies</c:v>
                </c:pt>
                <c:pt idx="1">
                  <c:v>TV Shows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6131</c:v>
                </c:pt>
                <c:pt idx="1">
                  <c:v>2676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B3B3B3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B3B3B3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f316dee-b0b6-4b3a-b6a8-69d6296eed95}"/>
      </c:ext>
    </c:extLst>
  </c:chart>
  <c:spPr>
    <a:solidFill>
      <a:srgbClr val="1F1F1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bubble3D val="0"/>
            <c:spPr>
              <a:solidFill>
                <a:srgbClr val="555555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Movies (70%)</c:v>
                </c:pt>
                <c:pt idx="1">
                  <c:v>TV Shows (30%)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6131</c:v>
                </c:pt>
                <c:pt idx="1">
                  <c:v>2676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ac76f815-d6c1-4d95-8423-9244a7c96a55}"/>
      </c:ext>
    </c:extLst>
  </c:chart>
  <c:spPr>
    <a:solidFill>
      <a:srgbClr val="1F1F1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C001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A001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8001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60011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United States</c:v>
                </c:pt>
                <c:pt idx="1">
                  <c:v>India</c:v>
                </c:pt>
                <c:pt idx="2">
                  <c:v>United Kingdom</c:v>
                </c:pt>
                <c:pt idx="3">
                  <c:v>Japan</c:v>
                </c:pt>
                <c:pt idx="4">
                  <c:v>South Korea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2818</c:v>
                </c:pt>
                <c:pt idx="1">
                  <c:v>972</c:v>
                </c:pt>
                <c:pt idx="2">
                  <c:v>419</c:v>
                </c:pt>
                <c:pt idx="3">
                  <c:v>245</c:v>
                </c:pt>
                <c:pt idx="4">
                  <c:v>199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B3B3B3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B3B3B3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14ebbd2-8676-484f-8a30-a71c50501cdb}"/>
      </c:ext>
    </c:extLst>
  </c:chart>
  <c:spPr>
    <a:solidFill>
      <a:srgbClr val="1F1F1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C001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A001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8001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60011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Intl Movies</c:v>
                </c:pt>
                <c:pt idx="1">
                  <c:v>Dramas</c:v>
                </c:pt>
                <c:pt idx="2">
                  <c:v>Comedies</c:v>
                </c:pt>
                <c:pt idx="3">
                  <c:v>Intl TV</c:v>
                </c:pt>
                <c:pt idx="4">
                  <c:v>Documentaries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2752</c:v>
                </c:pt>
                <c:pt idx="1">
                  <c:v>2427</c:v>
                </c:pt>
                <c:pt idx="2">
                  <c:v>1674</c:v>
                </c:pt>
                <c:pt idx="3">
                  <c:v>1351</c:v>
                </c:pt>
                <c:pt idx="4">
                  <c:v>869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B3B3B3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B3B3B3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1676f984-355d-4b97-96bc-aec792e92bda}"/>
      </c:ext>
    </c:extLst>
  </c:chart>
  <c:spPr>
    <a:solidFill>
      <a:srgbClr val="1F1F1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bubble3D val="0"/>
            <c:spPr>
              <a:solidFill>
                <a:srgbClr val="CC1122"/>
              </a:solidFill>
              <a:effectLst/>
            </c:spPr>
          </c:dPt>
          <c:dPt>
            <c:idx val="2"/>
            <c:bubble3D val="0"/>
            <c:spPr>
              <a:solidFill>
                <a:srgbClr val="991133"/>
              </a:solidFill>
              <a:effectLst/>
            </c:spPr>
          </c:dPt>
          <c:dPt>
            <c:idx val="3"/>
            <c:bubble3D val="0"/>
            <c:spPr>
              <a:solidFill>
                <a:srgbClr val="773344"/>
              </a:solidFill>
              <a:effectLst/>
            </c:spPr>
          </c:dPt>
          <c:dPt>
            <c:idx val="4"/>
            <c:bubble3D val="0"/>
            <c:spPr>
              <a:solidFill>
                <a:srgbClr val="555555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1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TV-MA</c:v>
                </c:pt>
                <c:pt idx="1">
                  <c:v>TV-14</c:v>
                </c:pt>
                <c:pt idx="2">
                  <c:v>TV-PG</c:v>
                </c:pt>
                <c:pt idx="3">
                  <c:v>R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3207</c:v>
                </c:pt>
                <c:pt idx="1">
                  <c:v>2160</c:v>
                </c:pt>
                <c:pt idx="2">
                  <c:v>863</c:v>
                </c:pt>
                <c:pt idx="3">
                  <c:v>799</c:v>
                </c:pt>
                <c:pt idx="4">
                  <c:v>1778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5055ebe9-2ff9-47f3-ba6c-28e3c479bf2b}"/>
      </c:ext>
    </c:extLst>
  </c:chart>
  <c:spPr>
    <a:solidFill>
      <a:srgbClr val="1F1F1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 Added</c:v>
                </c:pt>
              </c:strCache>
            </c:strRef>
          </c:tx>
          <c:spPr>
            <a:ln w="38100" cap="flat" cmpd="sng" algn="ctr">
              <a:solidFill>
                <a:srgbClr val="E5091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50914"/>
              </a:solidFill>
              <a:ln w="9525" cap="flat" cmpd="sng" algn="ctr">
                <a:solidFill>
                  <a:srgbClr val="E5091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430</c:v>
                </c:pt>
                <c:pt idx="1">
                  <c:v>1032</c:v>
                </c:pt>
                <c:pt idx="2">
                  <c:v>1536</c:v>
                </c:pt>
                <c:pt idx="3">
                  <c:v>1999</c:v>
                </c:pt>
                <c:pt idx="4">
                  <c:v>1878</c:v>
                </c:pt>
                <c:pt idx="5">
                  <c:v>1498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B3B3B3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B3B3B3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cc80335-dd51-46c2-8130-7209cbfdd842}"/>
      </c:ext>
    </c:extLst>
  </c:chart>
  <c:spPr>
    <a:solidFill>
      <a:srgbClr val="1F1F1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5.xml"/><Relationship Id="rId1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7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3" name="Text 1"/>
          <p:cNvSpPr/>
          <p:nvPr/>
        </p:nvSpPr>
        <p:spPr>
          <a:xfrm>
            <a:off x="502920" y="1005840"/>
            <a:ext cx="8229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NETFLIX TITLES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192024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E5091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Dataset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27432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3B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Exploratory Data Analysis  |  SQL  |  Content Strategy Insights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3520440"/>
            <a:ext cx="1920240" cy="1234440"/>
          </a:xfrm>
          <a:prstGeom prst="rect">
            <a:avLst/>
          </a:prstGeom>
          <a:solidFill>
            <a:srgbClr val="2A2A2A"/>
          </a:solidFill>
          <a:effectLst>
            <a:outerShdw blurRad="762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3520440"/>
            <a:ext cx="1920240" cy="64008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8" name="Text 6"/>
          <p:cNvSpPr/>
          <p:nvPr/>
        </p:nvSpPr>
        <p:spPr>
          <a:xfrm>
            <a:off x="502920" y="3611880"/>
            <a:ext cx="1920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8,807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4160520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B3B3"/>
                </a:solidFill>
              </a:rPr>
              <a:t>Titles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3520440"/>
            <a:ext cx="1920240" cy="1234440"/>
          </a:xfrm>
          <a:prstGeom prst="rect">
            <a:avLst/>
          </a:prstGeom>
          <a:solidFill>
            <a:srgbClr val="2A2A2A"/>
          </a:solidFill>
          <a:effectLst>
            <a:outerShdw blurRad="762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3520440"/>
            <a:ext cx="1920240" cy="64008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12" name="Text 10"/>
          <p:cNvSpPr/>
          <p:nvPr/>
        </p:nvSpPr>
        <p:spPr>
          <a:xfrm>
            <a:off x="2697480" y="3611880"/>
            <a:ext cx="1920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748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97480" y="4160520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B3B3"/>
                </a:solidFill>
              </a:rPr>
              <a:t>Countries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3520440"/>
            <a:ext cx="1920240" cy="1234440"/>
          </a:xfrm>
          <a:prstGeom prst="rect">
            <a:avLst/>
          </a:prstGeom>
          <a:solidFill>
            <a:srgbClr val="2A2A2A"/>
          </a:solidFill>
          <a:effectLst>
            <a:outerShdw blurRad="762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92040" y="3520440"/>
            <a:ext cx="1920240" cy="64008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16" name="Text 14"/>
          <p:cNvSpPr/>
          <p:nvPr/>
        </p:nvSpPr>
        <p:spPr>
          <a:xfrm>
            <a:off x="4892040" y="3611880"/>
            <a:ext cx="1920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1925–2021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92040" y="4160520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B3B3"/>
                </a:solidFill>
              </a:rPr>
              <a:t>Year Range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86600" y="3520440"/>
            <a:ext cx="1920240" cy="1234440"/>
          </a:xfrm>
          <a:prstGeom prst="rect">
            <a:avLst/>
          </a:prstGeom>
          <a:solidFill>
            <a:srgbClr val="2A2A2A"/>
          </a:solidFill>
          <a:effectLst>
            <a:outerShdw blurRad="76200" dist="254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86600" y="3520440"/>
            <a:ext cx="1920240" cy="64008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20" name="Text 18"/>
          <p:cNvSpPr/>
          <p:nvPr/>
        </p:nvSpPr>
        <p:spPr>
          <a:xfrm>
            <a:off x="7086600" y="3611880"/>
            <a:ext cx="19202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514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86600" y="4160520"/>
            <a:ext cx="1920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B3B3"/>
                </a:solidFill>
              </a:rPr>
              <a:t>Genre Tags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1F1F"/>
          </a:solidFill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DATASET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595360" y="137160"/>
            <a:ext cx="411480" cy="41148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5" name="Text 3"/>
          <p:cNvSpPr/>
          <p:nvPr/>
        </p:nvSpPr>
        <p:spPr>
          <a:xfrm>
            <a:off x="8595360" y="13716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E5E5"/>
                </a:solidFill>
              </a:rPr>
              <a:t>Content Type Breakdown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188720"/>
          <a:ext cx="43891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937760" y="8686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E5E5"/>
                </a:solidFill>
              </a:rPr>
              <a:t>Movie vs TV Show Share</a:t>
            </a:r>
            <a:endParaRPr lang="en-US" sz="13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846320" y="1188720"/>
          <a:ext cx="4023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1F1F"/>
          </a:solidFill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TOP PRODUCING COUNTRIES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595360" y="137160"/>
            <a:ext cx="411480" cy="41148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5" name="Text 3"/>
          <p:cNvSpPr/>
          <p:nvPr/>
        </p:nvSpPr>
        <p:spPr>
          <a:xfrm>
            <a:off x="8595360" y="13716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N</a:t>
            </a:r>
            <a:endParaRPr lang="en-US" sz="1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822960"/>
          <a:ext cx="56692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914400"/>
            <a:ext cx="2651760" cy="1143000"/>
          </a:xfrm>
          <a:prstGeom prst="rect">
            <a:avLst/>
          </a:prstGeom>
          <a:solidFill>
            <a:srgbClr val="2A2A2A"/>
          </a:solidFill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0" y="914400"/>
            <a:ext cx="64008" cy="114300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9" name="Text 6"/>
          <p:cNvSpPr/>
          <p:nvPr/>
        </p:nvSpPr>
        <p:spPr>
          <a:xfrm>
            <a:off x="6400800" y="100584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091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32%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0" y="146304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B3B3"/>
                </a:solidFill>
              </a:rPr>
              <a:t>of all titles produced in USA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2286000"/>
            <a:ext cx="2651760" cy="1143000"/>
          </a:xfrm>
          <a:prstGeom prst="rect">
            <a:avLst/>
          </a:prstGeom>
          <a:solidFill>
            <a:srgbClr val="2A2A2A"/>
          </a:solidFill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2286000"/>
            <a:ext cx="64008" cy="114300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13" name="Text 10"/>
          <p:cNvSpPr/>
          <p:nvPr/>
        </p:nvSpPr>
        <p:spPr>
          <a:xfrm>
            <a:off x="6400800" y="237744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091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11%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400800" y="283464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B3B3"/>
                </a:solidFill>
              </a:rPr>
              <a:t>of content from India -#2 globally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3657600"/>
            <a:ext cx="2651760" cy="1143000"/>
          </a:xfrm>
          <a:prstGeom prst="rect">
            <a:avLst/>
          </a:prstGeom>
          <a:solidFill>
            <a:srgbClr val="2A2A2A"/>
          </a:solidFill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3657600"/>
            <a:ext cx="64008" cy="114300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17" name="Text 14"/>
          <p:cNvSpPr/>
          <p:nvPr/>
        </p:nvSpPr>
        <p:spPr>
          <a:xfrm>
            <a:off x="6400800" y="374904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5091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748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6400800" y="420624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B3B3"/>
                </a:solidFill>
              </a:rPr>
              <a:t>unique countries represented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1F1F"/>
          </a:solidFill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GENRE &amp; RATINGS BREAKDOWN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595360" y="137160"/>
            <a:ext cx="411480" cy="41148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5" name="Text 3"/>
          <p:cNvSpPr/>
          <p:nvPr/>
        </p:nvSpPr>
        <p:spPr>
          <a:xfrm>
            <a:off x="8595360" y="13716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E5E5"/>
                </a:solidFill>
              </a:rPr>
              <a:t>Top Genres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1143000"/>
          <a:ext cx="47548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212080" y="8229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E5E5"/>
                </a:solidFill>
              </a:rPr>
              <a:t>Top Content Ratings</a:t>
            </a:r>
            <a:endParaRPr lang="en-US" sz="13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5029200" y="1143000"/>
          <a:ext cx="38404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1F1F"/>
          </a:solidFill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CONTENT GROWTH OVER TIME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595360" y="137160"/>
            <a:ext cx="411480" cy="41148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5" name="Text 3"/>
          <p:cNvSpPr/>
          <p:nvPr/>
        </p:nvSpPr>
        <p:spPr>
          <a:xfrm>
            <a:off x="8595360" y="13716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N</a:t>
            </a:r>
            <a:endParaRPr lang="en-US" sz="1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777240"/>
          <a:ext cx="5943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400800" y="822960"/>
            <a:ext cx="2468880" cy="1051560"/>
          </a:xfrm>
          <a:prstGeom prst="rect">
            <a:avLst/>
          </a:prstGeom>
          <a:solidFill>
            <a:srgbClr val="2A2A2A"/>
          </a:solidFill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0" y="822960"/>
            <a:ext cx="64008" cy="105156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9" name="Text 6"/>
          <p:cNvSpPr/>
          <p:nvPr/>
        </p:nvSpPr>
        <p:spPr>
          <a:xfrm>
            <a:off x="6583680" y="868680"/>
            <a:ext cx="2194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091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~4.6x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583680" y="137160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B3B3"/>
                </a:solidFill>
              </a:rPr>
              <a:t>Growth from 2016 to 2019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0" y="2103120"/>
            <a:ext cx="2468880" cy="1051560"/>
          </a:xfrm>
          <a:prstGeom prst="rect">
            <a:avLst/>
          </a:prstGeom>
          <a:solidFill>
            <a:srgbClr val="2A2A2A"/>
          </a:solidFill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2103120"/>
            <a:ext cx="64008" cy="105156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13" name="Text 10"/>
          <p:cNvSpPr/>
          <p:nvPr/>
        </p:nvSpPr>
        <p:spPr>
          <a:xfrm>
            <a:off x="6583680" y="2148840"/>
            <a:ext cx="2194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091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1,999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583680" y="265176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B3B3"/>
                </a:solidFill>
              </a:rPr>
              <a:t>Peak additions in 2019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0" y="3383280"/>
            <a:ext cx="2468880" cy="1051560"/>
          </a:xfrm>
          <a:prstGeom prst="rect">
            <a:avLst/>
          </a:prstGeom>
          <a:solidFill>
            <a:srgbClr val="2A2A2A"/>
          </a:solidFill>
          <a:effectLst>
            <a:outerShdw blurRad="76200" dist="254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0" y="3383280"/>
            <a:ext cx="64008" cy="105156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17" name="Text 14"/>
          <p:cNvSpPr/>
          <p:nvPr/>
        </p:nvSpPr>
        <p:spPr>
          <a:xfrm>
            <a:off x="6583680" y="3429000"/>
            <a:ext cx="21945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0914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99.6 min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583680" y="3931920"/>
            <a:ext cx="2194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B3B3"/>
                </a:solidFill>
              </a:rPr>
              <a:t>Average movie runtime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1F1F"/>
          </a:solidFill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KEY SQL QUERIES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595360" y="137160"/>
            <a:ext cx="411480" cy="41148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5" name="Text 3"/>
          <p:cNvSpPr/>
          <p:nvPr/>
        </p:nvSpPr>
        <p:spPr>
          <a:xfrm>
            <a:off x="8595360" y="13716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503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0914"/>
                </a:solidFill>
              </a:rPr>
              <a:t>Content Distribution by Country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8595360" cy="1463040"/>
          </a:xfrm>
          <a:prstGeom prst="rect">
            <a:avLst/>
          </a:prstGeom>
          <a:solidFill>
            <a:srgbClr val="0D0D0D"/>
          </a:solidFill>
        </p:spPr>
      </p:sp>
      <p:sp>
        <p:nvSpPr>
          <p:cNvPr id="8" name="Text 6"/>
          <p:cNvSpPr/>
          <p:nvPr/>
        </p:nvSpPr>
        <p:spPr>
          <a:xfrm>
            <a:off x="411480" y="1234440"/>
            <a:ext cx="8321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 country, type, COUNT(*) AS title_count,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ROUND(COUNT(*)*100.0/SUM(COUNT(*)) OVER(),2) AS pct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netflix_titles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WHERE country IS NOT NULL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GROUP BY country, type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ORDER BY title_count DESC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LIMIT 10;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880360"/>
            <a:ext cx="8503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0914"/>
                </a:solidFill>
              </a:rPr>
              <a:t>Top Genres &amp; Avg Release Year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246120"/>
            <a:ext cx="8595360" cy="1463040"/>
          </a:xfrm>
          <a:prstGeom prst="rect">
            <a:avLst/>
          </a:prstGeom>
          <a:solidFill>
            <a:srgbClr val="0D0D0D"/>
          </a:solidFill>
        </p:spPr>
      </p:sp>
      <p:sp>
        <p:nvSpPr>
          <p:cNvPr id="11" name="Text 9"/>
          <p:cNvSpPr/>
          <p:nvPr/>
        </p:nvSpPr>
        <p:spPr>
          <a:xfrm>
            <a:off x="411480" y="3291840"/>
            <a:ext cx="8321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 genre, COUNT(*) AS count,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ROUND(AVG(release_year),1) AS avg_year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SELECT TRIM(value) AS genre, release_year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FROM netflix_titles,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json_each('["' || REPLACE(listed_in,', ','","') || '"]')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GROUP BY genre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9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ORDER BY count DESC LIMIT 5;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1F1F"/>
          </a:solidFill>
        </p:spPr>
      </p:sp>
      <p:sp>
        <p:nvSpPr>
          <p:cNvPr id="3" name="Text 1"/>
          <p:cNvSpPr/>
          <p:nvPr/>
        </p:nvSpPr>
        <p:spPr>
          <a:xfrm>
            <a:off x="365760" y="118872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595360" y="137160"/>
            <a:ext cx="411480" cy="41148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5" name="Text 3"/>
          <p:cNvSpPr/>
          <p:nvPr/>
        </p:nvSpPr>
        <p:spPr>
          <a:xfrm>
            <a:off x="8595360" y="13716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N</a:t>
            </a:r>
            <a:endParaRPr lang="en-US" sz="180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274320" y="868680"/>
            <a:ext cx="8595360" cy="1188720"/>
          </a:xfrm>
          <a:prstGeom prst="rect">
            <a:avLst/>
          </a:prstGeom>
          <a:solidFill>
            <a:srgbClr val="2A2A2A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274320" y="868680"/>
            <a:ext cx="640080" cy="118872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274320" y="1188720"/>
            <a:ext cx="640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1051560" y="960120"/>
            <a:ext cx="7589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Analyzed 8,807-record Netflix catalog across 748 countries</a:t>
            </a:r>
            <a:endParaRPr lang="en-US" sz="1300" dirty="0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1051560" y="1371600"/>
            <a:ext cx="7589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</a:rPr>
              <a:t>Conducted end-to-end EDA in SQL identifying content distribution patterns, missing data (30% director field null-rate), and release year trends from 1925–2021.</a:t>
            </a:r>
            <a:endParaRPr lang="en-US" sz="1050" dirty="0"/>
          </a:p>
        </p:txBody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274320" y="2240280"/>
            <a:ext cx="8595360" cy="1188720"/>
          </a:xfrm>
          <a:prstGeom prst="rect">
            <a:avLst/>
          </a:prstGeom>
          <a:solidFill>
            <a:srgbClr val="2A2A2A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274320" y="2240280"/>
            <a:ext cx="640080" cy="118872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274320" y="2560320"/>
            <a:ext cx="640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1051560" y="2331720"/>
            <a:ext cx="7589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Uncovered 4.6× content growth between 2016–2019 via time-series analysis</a:t>
            </a:r>
            <a:endParaRPr lang="en-US" sz="1300" dirty="0"/>
          </a:p>
        </p:txBody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1051560" y="2743200"/>
            <a:ext cx="7589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</a:rPr>
              <a:t>Parsed and transformed date fields to track annual catalog additions, revealing a peak of 1,999 titles added in 2019 and quantifying a platform scaling trend for strategic insight.</a:t>
            </a:r>
            <a:endParaRPr lang="en-US" sz="1050" dirty="0"/>
          </a:p>
        </p:txBody>
      </p:sp>
      <p:sp>
        <p:nvSpPr>
          <p:cNvPr id="16" name="Shape 14"/>
          <p:cNvSpPr/>
          <p:nvPr>
            <p:custDataLst>
              <p:tags r:id="rId11"/>
            </p:custDataLst>
          </p:nvPr>
        </p:nvSpPr>
        <p:spPr>
          <a:xfrm>
            <a:off x="274320" y="3611880"/>
            <a:ext cx="8595360" cy="1188720"/>
          </a:xfrm>
          <a:prstGeom prst="rect">
            <a:avLst/>
          </a:prstGeom>
          <a:solidFill>
            <a:srgbClr val="2A2A2A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274320" y="3611880"/>
            <a:ext cx="640080" cy="118872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18" name="Text 16"/>
          <p:cNvSpPr/>
          <p:nvPr>
            <p:custDataLst>
              <p:tags r:id="rId13"/>
            </p:custDataLst>
          </p:nvPr>
        </p:nvSpPr>
        <p:spPr>
          <a:xfrm>
            <a:off x="274320" y="3931920"/>
            <a:ext cx="6400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1051560" y="3703320"/>
            <a:ext cx="7589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Wrote optimized SQL to surface top genres and country-level share metrics</a:t>
            </a:r>
            <a:endParaRPr lang="en-US" sz="1300" dirty="0"/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1051560" y="4114800"/>
            <a:ext cx="75895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3B3B3"/>
                </a:solidFill>
              </a:rPr>
              <a:t>Authored multi-CTE and window function queries (PARTITION BY, OVER) to compute percentage breakdowns -showing US content at 32% of catalog and TV-MA at 36% of all ratings.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3" name="Text 1"/>
          <p:cNvSpPr/>
          <p:nvPr/>
        </p:nvSpPr>
        <p:spPr>
          <a:xfrm>
            <a:off x="502920" y="64008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3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02920" y="1600200"/>
            <a:ext cx="274320" cy="27432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960120" y="150876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</a:rPr>
              <a:t>Netflix's catalog is 70% Movies and 30% TV Shows across 8,807 titles</a:t>
            </a:r>
            <a:endParaRPr lang="en-US" sz="1300" dirty="0"/>
          </a:p>
        </p:txBody>
      </p:sp>
      <p:sp>
        <p:nvSpPr>
          <p:cNvPr id="6" name="Shape 4"/>
          <p:cNvSpPr/>
          <p:nvPr>
            <p:custDataLst>
              <p:tags r:id="rId3"/>
            </p:custDataLst>
          </p:nvPr>
        </p:nvSpPr>
        <p:spPr>
          <a:xfrm>
            <a:off x="502920" y="2240280"/>
            <a:ext cx="274320" cy="27432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960120" y="214884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</a:rPr>
              <a:t>The United States dominates production at 32%, followed by India at 11%</a:t>
            </a:r>
            <a:endParaRPr lang="en-US" sz="1300" dirty="0"/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502920" y="2880360"/>
            <a:ext cx="274320" cy="27432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960120" y="278892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</a:rPr>
              <a:t>Content additions peaked in 2019 at 1,999 titles -a 4.6× increase from 2016</a:t>
            </a:r>
            <a:endParaRPr lang="en-US" sz="1300" dirty="0"/>
          </a:p>
        </p:txBody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502920" y="3520440"/>
            <a:ext cx="274320" cy="27432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960120" y="342900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</a:rPr>
              <a:t>International Movies &amp; Dramas are the #1 and #2 genres on the platform</a:t>
            </a:r>
            <a:endParaRPr lang="en-US" sz="1300" dirty="0"/>
          </a:p>
        </p:txBody>
      </p:sp>
      <p:sp>
        <p:nvSpPr>
          <p:cNvPr id="12" name="Shape 10"/>
          <p:cNvSpPr/>
          <p:nvPr>
            <p:custDataLst>
              <p:tags r:id="rId9"/>
            </p:custDataLst>
          </p:nvPr>
        </p:nvSpPr>
        <p:spPr>
          <a:xfrm>
            <a:off x="502920" y="4160520"/>
            <a:ext cx="274320" cy="274320"/>
          </a:xfrm>
          <a:prstGeom prst="rect">
            <a:avLst/>
          </a:prstGeom>
          <a:solidFill>
            <a:srgbClr val="E50914"/>
          </a:solidFill>
        </p:spPr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960120" y="406908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</a:rPr>
              <a:t>TV-MA rating accounts for 36% of all content -majority targets adult audiences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3B3B3"/>
                </a:solidFill>
              </a:rPr>
              <a:t>Tools: · SQL · Data Visualization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9.6,&quot;left&quot;:21.6,&quot;top&quot;:68.4,&quot;width&quot;:676.8}"/>
</p:tagLst>
</file>

<file path=ppt/tags/tag2.xml><?xml version="1.0" encoding="utf-8"?>
<p:tagLst xmlns:p="http://schemas.openxmlformats.org/presentationml/2006/main">
  <p:tag name="KSO_WM_DIAGRAM_VIRTUALLY_FRAME" val="{&quot;height&quot;:309.6,&quot;left&quot;:21.6,&quot;top&quot;:68.4,&quot;width&quot;:676.8}"/>
</p:tagLst>
</file>

<file path=ppt/tags/tag3.xml><?xml version="1.0" encoding="utf-8"?>
<p:tagLst xmlns:p="http://schemas.openxmlformats.org/presentationml/2006/main">
  <p:tag name="KSO_WM_DIAGRAM_VIRTUALLY_FRAME" val="{&quot;height&quot;:309.6,&quot;left&quot;:21.6,&quot;top&quot;:68.4,&quot;width&quot;:676.8}"/>
</p:tagLst>
</file>

<file path=ppt/tags/tag4.xml><?xml version="1.0" encoding="utf-8"?>
<p:tagLst xmlns:p="http://schemas.openxmlformats.org/presentationml/2006/main">
  <p:tag name="KSO_WM_DIAGRAM_VIRTUALLY_FRAME" val="{&quot;height&quot;:309.6,&quot;left&quot;:21.6,&quot;top&quot;:68.4,&quot;width&quot;:676.8}"/>
</p:tagLst>
</file>

<file path=ppt/tags/tag5.xml><?xml version="1.0" encoding="utf-8"?>
<p:tagLst xmlns:p="http://schemas.openxmlformats.org/presentationml/2006/main">
  <p:tag name="KSO_WM_DIAGRAM_VIRTUALLY_FRAME" val="{&quot;height&quot;:309.6,&quot;left&quot;:21.6,&quot;top&quot;:68.4,&quot;width&quot;:676.8}"/>
</p:tagLst>
</file>

<file path=ppt/tags/tag6.xml><?xml version="1.0" encoding="utf-8"?>
<p:tagLst xmlns:p="http://schemas.openxmlformats.org/presentationml/2006/main">
  <p:tag name="KSO_WM_DIAGRAM_VIRTUALLY_FRAME" val="{&quot;height&quot;:309.6,&quot;left&quot;:21.6,&quot;top&quot;:68.4,&quot;width&quot;:676.8}"/>
</p:tagLst>
</file>

<file path=ppt/tags/tag7.xml><?xml version="1.0" encoding="utf-8"?>
<p:tagLst xmlns:p="http://schemas.openxmlformats.org/presentationml/2006/main">
  <p:tag name="KSO_WM_DIAGRAM_VIRTUALLY_FRAME" val="{&quot;height&quot;:309.6,&quot;left&quot;:21.6,&quot;top&quot;:68.4,&quot;width&quot;:676.8}"/>
</p:tagLst>
</file>

<file path=ppt/tags/tag8.xml><?xml version="1.0" encoding="utf-8"?>
<p:tagLst xmlns:p="http://schemas.openxmlformats.org/presentationml/2006/main">
  <p:tag name="KSO_WM_DIAGRAM_VIRTUALLY_FRAME" val="{&quot;height&quot;:309.6,&quot;left&quot;:21.6,&quot;top&quot;:68.4,&quot;width&quot;:676.8}"/>
</p:tagLst>
</file>

<file path=ppt/tags/tag9.xml><?xml version="1.0" encoding="utf-8"?>
<p:tagLst xmlns:p="http://schemas.openxmlformats.org/presentationml/2006/main">
  <p:tag name="KSO_WM_DIAGRAM_VIRTUALLY_FRAME" val="{&quot;height&quot;:309.6,&quot;left&quot;:21.6,&quot;top&quot;:68.4,&quot;width&quot;:676.8}"/>
</p:tagLst>
</file>

<file path=ppt/tags/tag10.xml><?xml version="1.0" encoding="utf-8"?>
<p:tagLst xmlns:p="http://schemas.openxmlformats.org/presentationml/2006/main">
  <p:tag name="KSO_WM_DIAGRAM_VIRTUALLY_FRAME" val="{&quot;height&quot;:309.6,&quot;left&quot;:21.6,&quot;top&quot;:68.4,&quot;width&quot;:676.8}"/>
</p:tagLst>
</file>

<file path=ppt/tags/tag11.xml><?xml version="1.0" encoding="utf-8"?>
<p:tagLst xmlns:p="http://schemas.openxmlformats.org/presentationml/2006/main">
  <p:tag name="KSO_WM_DIAGRAM_VIRTUALLY_FRAME" val="{&quot;height&quot;:309.6,&quot;left&quot;:21.6,&quot;top&quot;:68.4,&quot;width&quot;:676.8}"/>
</p:tagLst>
</file>

<file path=ppt/tags/tag12.xml><?xml version="1.0" encoding="utf-8"?>
<p:tagLst xmlns:p="http://schemas.openxmlformats.org/presentationml/2006/main">
  <p:tag name="KSO_WM_DIAGRAM_VIRTUALLY_FRAME" val="{&quot;height&quot;:309.6,&quot;left&quot;:21.6,&quot;top&quot;:68.4,&quot;width&quot;:676.8}"/>
</p:tagLst>
</file>

<file path=ppt/tags/tag13.xml><?xml version="1.0" encoding="utf-8"?>
<p:tagLst xmlns:p="http://schemas.openxmlformats.org/presentationml/2006/main">
  <p:tag name="KSO_WM_DIAGRAM_VIRTUALLY_FRAME" val="{&quot;height&quot;:309.6,&quot;left&quot;:21.6,&quot;top&quot;:68.4,&quot;width&quot;:676.8}"/>
</p:tagLst>
</file>

<file path=ppt/tags/tag14.xml><?xml version="1.0" encoding="utf-8"?>
<p:tagLst xmlns:p="http://schemas.openxmlformats.org/presentationml/2006/main">
  <p:tag name="KSO_WM_DIAGRAM_VIRTUALLY_FRAME" val="{&quot;height&quot;:309.6,&quot;left&quot;:21.6,&quot;top&quot;:68.4,&quot;width&quot;:676.8}"/>
</p:tagLst>
</file>

<file path=ppt/tags/tag15.xml><?xml version="1.0" encoding="utf-8"?>
<p:tagLst xmlns:p="http://schemas.openxmlformats.org/presentationml/2006/main">
  <p:tag name="KSO_WM_DIAGRAM_VIRTUALLY_FRAME" val="{&quot;height&quot;:309.6,&quot;left&quot;:21.6,&quot;top&quot;:68.4,&quot;width&quot;:676.8}"/>
</p:tagLst>
</file>

<file path=ppt/tags/tag16.xml><?xml version="1.0" encoding="utf-8"?>
<p:tagLst xmlns:p="http://schemas.openxmlformats.org/presentationml/2006/main">
  <p:tag name="KSO_WM_DIAGRAM_VIRTUALLY_FRAME" val="{&quot;height&quot;:237.6,&quot;left&quot;:39.6,&quot;top&quot;:118.8,&quot;width&quot;:648}"/>
</p:tagLst>
</file>

<file path=ppt/tags/tag17.xml><?xml version="1.0" encoding="utf-8"?>
<p:tagLst xmlns:p="http://schemas.openxmlformats.org/presentationml/2006/main">
  <p:tag name="KSO_WM_DIAGRAM_VIRTUALLY_FRAME" val="{&quot;height&quot;:237.6,&quot;left&quot;:39.6,&quot;top&quot;:118.8,&quot;width&quot;:648}"/>
</p:tagLst>
</file>

<file path=ppt/tags/tag18.xml><?xml version="1.0" encoding="utf-8"?>
<p:tagLst xmlns:p="http://schemas.openxmlformats.org/presentationml/2006/main">
  <p:tag name="KSO_WM_DIAGRAM_VIRTUALLY_FRAME" val="{&quot;height&quot;:237.6,&quot;left&quot;:39.6,&quot;top&quot;:118.8,&quot;width&quot;:648}"/>
</p:tagLst>
</file>

<file path=ppt/tags/tag19.xml><?xml version="1.0" encoding="utf-8"?>
<p:tagLst xmlns:p="http://schemas.openxmlformats.org/presentationml/2006/main">
  <p:tag name="KSO_WM_DIAGRAM_VIRTUALLY_FRAME" val="{&quot;height&quot;:237.6,&quot;left&quot;:39.6,&quot;top&quot;:118.8,&quot;width&quot;:648}"/>
</p:tagLst>
</file>

<file path=ppt/tags/tag20.xml><?xml version="1.0" encoding="utf-8"?>
<p:tagLst xmlns:p="http://schemas.openxmlformats.org/presentationml/2006/main">
  <p:tag name="KSO_WM_DIAGRAM_VIRTUALLY_FRAME" val="{&quot;height&quot;:237.6,&quot;left&quot;:39.6,&quot;top&quot;:118.8,&quot;width&quot;:648}"/>
</p:tagLst>
</file>

<file path=ppt/tags/tag21.xml><?xml version="1.0" encoding="utf-8"?>
<p:tagLst xmlns:p="http://schemas.openxmlformats.org/presentationml/2006/main">
  <p:tag name="KSO_WM_DIAGRAM_VIRTUALLY_FRAME" val="{&quot;height&quot;:237.6,&quot;left&quot;:39.6,&quot;top&quot;:118.8,&quot;width&quot;:648}"/>
</p:tagLst>
</file>

<file path=ppt/tags/tag22.xml><?xml version="1.0" encoding="utf-8"?>
<p:tagLst xmlns:p="http://schemas.openxmlformats.org/presentationml/2006/main">
  <p:tag name="KSO_WM_DIAGRAM_VIRTUALLY_FRAME" val="{&quot;height&quot;:237.6,&quot;left&quot;:39.6,&quot;top&quot;:118.8,&quot;width&quot;:648}"/>
</p:tagLst>
</file>

<file path=ppt/tags/tag23.xml><?xml version="1.0" encoding="utf-8"?>
<p:tagLst xmlns:p="http://schemas.openxmlformats.org/presentationml/2006/main">
  <p:tag name="KSO_WM_DIAGRAM_VIRTUALLY_FRAME" val="{&quot;height&quot;:237.6,&quot;left&quot;:39.6,&quot;top&quot;:118.8,&quot;width&quot;:648}"/>
</p:tagLst>
</file>

<file path=ppt/tags/tag24.xml><?xml version="1.0" encoding="utf-8"?>
<p:tagLst xmlns:p="http://schemas.openxmlformats.org/presentationml/2006/main">
  <p:tag name="KSO_WM_DIAGRAM_VIRTUALLY_FRAME" val="{&quot;height&quot;:237.6,&quot;left&quot;:39.6,&quot;top&quot;:118.8,&quot;width&quot;:648}"/>
</p:tagLst>
</file>

<file path=ppt/tags/tag25.xml><?xml version="1.0" encoding="utf-8"?>
<p:tagLst xmlns:p="http://schemas.openxmlformats.org/presentationml/2006/main">
  <p:tag name="KSO_WM_DIAGRAM_VIRTUALLY_FRAME" val="{&quot;height&quot;:237.6,&quot;left&quot;:39.6,&quot;top&quot;:118.8,&quot;width&quot;:64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2145</Words>
  <Application>WPS Presentation</Application>
  <PresentationFormat>On-screen Show (16:9)</PresentationFormat>
  <Paragraphs>130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7" baseType="lpstr">
      <vt:lpstr>Arial</vt:lpstr>
      <vt:lpstr>SimSun</vt:lpstr>
      <vt:lpstr>Wingdings</vt:lpstr>
      <vt:lpstr>Arial Black</vt:lpstr>
      <vt:lpstr>Arial Black</vt:lpstr>
      <vt:lpstr>Arial Black</vt:lpstr>
      <vt:lpstr>Georgia</vt:lpstr>
      <vt:lpstr>Georgia</vt:lpstr>
      <vt:lpstr>Georgia</vt:lpstr>
      <vt:lpstr>Calibri</vt:lpstr>
      <vt:lpstr>Calibri</vt:lpstr>
      <vt:lpstr>Calibri</vt:lpstr>
      <vt:lpstr>Arial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Titles Dataset Analysis</dc:title>
  <dc:creator>PptxGenJS</dc:creator>
  <dc:subject>PptxGenJS Presentation</dc:subject>
  <cp:lastModifiedBy>princy</cp:lastModifiedBy>
  <cp:revision>2</cp:revision>
  <dcterms:created xsi:type="dcterms:W3CDTF">2026-03-20T12:30:00Z</dcterms:created>
  <dcterms:modified xsi:type="dcterms:W3CDTF">2026-03-21T09:51:16Z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B5ABC90B6CD641E2A2F913973DAD74BF_12</vt:lpwstr>
  </property>
  <property fmtid="{D5CDD505-2E9C-101B-9397-08002B2CF9AE}" pid="3" name="KSOProductBuildVer">
    <vt:lpwstr>1033-12.2.0.23197</vt:lpwstr>
  </property>
</Properties>
</file>